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3ea5bdc30848cf" /><Relationship Type="http://schemas.openxmlformats.org/officeDocument/2006/relationships/extended-properties" Target="/docProps/app.xml" Id="R8fab28cdd6104bb3" /><Relationship Type="http://schemas.openxmlformats.org/officeDocument/2006/relationships/officeDocument" Target="/ppt/presentation.xml" Id="Rd15fa7236a7f4a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f2fa7f01df40e3"/>
  </p:sldMasterIdLst>
  <p:notesMasterIdLst>
    <p:notesMasterId xmlns:r="http://schemas.openxmlformats.org/officeDocument/2006/relationships" r:id="Rf3ac3a0f050543f4"/>
  </p:notesMasterIdLst>
  <p:sldIdLst>
    <p:sldId xmlns:r="http://schemas.openxmlformats.org/officeDocument/2006/relationships" id="256" r:id="R13afaf7a4e3e40af"/>
    <p:sldId xmlns:r="http://schemas.openxmlformats.org/officeDocument/2006/relationships" id="257" r:id="R2e8ce5d355334ee8"/>
    <p:sldId xmlns:r="http://schemas.openxmlformats.org/officeDocument/2006/relationships" id="258" r:id="R43c632c0b17242f2"/>
    <p:sldId xmlns:r="http://schemas.openxmlformats.org/officeDocument/2006/relationships" id="259" r:id="R337090bdb7e0477e"/>
    <p:sldId xmlns:r="http://schemas.openxmlformats.org/officeDocument/2006/relationships" id="260" r:id="Rcdb88f97c6d24bc9"/>
    <p:sldId xmlns:r="http://schemas.openxmlformats.org/officeDocument/2006/relationships" id="261" r:id="Rd79bec5ad6e34ff1"/>
    <p:sldId xmlns:r="http://schemas.openxmlformats.org/officeDocument/2006/relationships" id="262" r:id="Rf53dbb1df27341e5"/>
    <p:sldId xmlns:r="http://schemas.openxmlformats.org/officeDocument/2006/relationships" id="263" r:id="Rd474fd3006684b58"/>
    <p:sldId xmlns:r="http://schemas.openxmlformats.org/officeDocument/2006/relationships" id="264" r:id="R1f05df6572914a57"/>
    <p:sldId xmlns:r="http://schemas.openxmlformats.org/officeDocument/2006/relationships" id="265" r:id="Rd180d98d9f444e41"/>
    <p:sldId xmlns:r="http://schemas.openxmlformats.org/officeDocument/2006/relationships" id="266" r:id="R8377069199524243"/>
    <p:sldId xmlns:r="http://schemas.openxmlformats.org/officeDocument/2006/relationships" id="267" r:id="R54307c055d594a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82e41f144c4df7" /><Relationship Type="http://schemas.openxmlformats.org/officeDocument/2006/relationships/slideMaster" Target="/ppt/slideMasters/slideMaster1.xml" Id="Rf8f2fa7f01df40e3" /><Relationship Type="http://schemas.openxmlformats.org/officeDocument/2006/relationships/notesMaster" Target="/ppt/notesMasters/notesMaster1.xml" Id="Rf3ac3a0f050543f4" /><Relationship Type="http://schemas.openxmlformats.org/officeDocument/2006/relationships/presProps" Target="/ppt/presProps.xml" Id="R878ab97d1de64324" /><Relationship Type="http://schemas.openxmlformats.org/officeDocument/2006/relationships/tableStyles" Target="/ppt/tableStyles.xml" Id="R22acf04dd81d410a" /><Relationship Type="http://schemas.openxmlformats.org/officeDocument/2006/relationships/slide" Target="/ppt/slides/slide1.xml" Id="R13afaf7a4e3e40af" /><Relationship Type="http://schemas.openxmlformats.org/officeDocument/2006/relationships/slide" Target="/ppt/slides/slide2.xml" Id="R2e8ce5d355334ee8" /><Relationship Type="http://schemas.openxmlformats.org/officeDocument/2006/relationships/slide" Target="/ppt/slides/slide3.xml" Id="R43c632c0b17242f2" /><Relationship Type="http://schemas.openxmlformats.org/officeDocument/2006/relationships/slide" Target="/ppt/slides/slide4.xml" Id="R337090bdb7e0477e" /><Relationship Type="http://schemas.openxmlformats.org/officeDocument/2006/relationships/slide" Target="/ppt/slides/slide5.xml" Id="Rcdb88f97c6d24bc9" /><Relationship Type="http://schemas.openxmlformats.org/officeDocument/2006/relationships/slide" Target="/ppt/slides/slide6.xml" Id="Rd79bec5ad6e34ff1" /><Relationship Type="http://schemas.openxmlformats.org/officeDocument/2006/relationships/slide" Target="/ppt/slides/slide7.xml" Id="Rf53dbb1df27341e5" /><Relationship Type="http://schemas.openxmlformats.org/officeDocument/2006/relationships/slide" Target="/ppt/slides/slide8.xml" Id="Rd474fd3006684b58" /><Relationship Type="http://schemas.openxmlformats.org/officeDocument/2006/relationships/slide" Target="/ppt/slides/slide9.xml" Id="R1f05df6572914a57" /><Relationship Type="http://schemas.openxmlformats.org/officeDocument/2006/relationships/slide" Target="/ppt/slides/slide10.xml" Id="Rd180d98d9f444e41" /><Relationship Type="http://schemas.openxmlformats.org/officeDocument/2006/relationships/slide" Target="/ppt/slides/slide11.xml" Id="R8377069199524243" /><Relationship Type="http://schemas.openxmlformats.org/officeDocument/2006/relationships/slide" Target="/ppt/slides/slide12.xml" Id="R54307c055d594a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10c90ca21547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53382bf2564d1b" /><Relationship Type="http://schemas.openxmlformats.org/officeDocument/2006/relationships/notesMaster" Target="/ppt/notesMasters/notesMaster1.xml" Id="Rf362e2f57a6841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a10b6992b94e4b" /><Relationship Type="http://schemas.openxmlformats.org/officeDocument/2006/relationships/notesMaster" Target="/ppt/notesMasters/notesMaster1.xml" Id="Raeec1fa3513643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c802877451464e" /><Relationship Type="http://schemas.openxmlformats.org/officeDocument/2006/relationships/notesMaster" Target="/ppt/notesMasters/notesMaster1.xml" Id="R0bc647f36c1b44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3b7d7b97e7435d" /><Relationship Type="http://schemas.openxmlformats.org/officeDocument/2006/relationships/notesMaster" Target="/ppt/notesMasters/notesMaster1.xml" Id="Rf561b1803f9246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59ae8c9625428c" /><Relationship Type="http://schemas.openxmlformats.org/officeDocument/2006/relationships/notesMaster" Target="/ppt/notesMasters/notesMaster1.xml" Id="R830bd9fb54b84c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12a83550184ef0" /><Relationship Type="http://schemas.openxmlformats.org/officeDocument/2006/relationships/notesMaster" Target="/ppt/notesMasters/notesMaster1.xml" Id="R030a0b3aa57d4a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1a62b177984dc0" /><Relationship Type="http://schemas.openxmlformats.org/officeDocument/2006/relationships/notesMaster" Target="/ppt/notesMasters/notesMaster1.xml" Id="R6bccfaf9033f4d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ee512103d44ec5" /><Relationship Type="http://schemas.openxmlformats.org/officeDocument/2006/relationships/notesMaster" Target="/ppt/notesMasters/notesMaster1.xml" Id="Raeb28a5fade346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7ed28fc37f41f6" /><Relationship Type="http://schemas.openxmlformats.org/officeDocument/2006/relationships/notesMaster" Target="/ppt/notesMasters/notesMaster1.xml" Id="Rfdbe1f4e5cb245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4a748fdf6e44ad" /><Relationship Type="http://schemas.openxmlformats.org/officeDocument/2006/relationships/notesMaster" Target="/ppt/notesMasters/notesMaster1.xml" Id="Rb691bcb2b2064b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e001719293403b" /><Relationship Type="http://schemas.openxmlformats.org/officeDocument/2006/relationships/notesMaster" Target="/ppt/notesMasters/notesMaster1.xml" Id="R331d35c20e8c4f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8402e22abc448e" /><Relationship Type="http://schemas.openxmlformats.org/officeDocument/2006/relationships/notesMaster" Target="/ppt/notesMasters/notesMaster1.xml" Id="R312529129ae04b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problema de una empresa de software en Ecuador. El sistema de incidencias es una demostración del proceso, no una solución corporativa desplegada. Fuente del caso: Proyecto Parcial I - PA.pdf, consigna del docente.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problema con una consecuencia. El documento plantea una situación, no aporta métricas históricas. No presentar porcentajes de mejora inventados.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Flow permite proponer cambios mediante ramas y PR. La propuesta procura integrar a diario para mantener lotes pequeños. Fuente: https://docs.github.com/en/get-started/using-github/github-flow y https://dora.dev/capabilities/trunk-based-development/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 Flow conserva ramas de desarrollo y de versiones. Su autor advierte que un flujo sencillo puede ajustarse mejor a entregas continuas. Fuentes: https://nvie.com/posts/a-successful-git-branching-model/ y https://dora.dev/capabilities/trunk-based-development/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Aclaración del docente Joffre: investigar SDD y aplicar el caso mediante código generado por IA desde especificaciones. Las necesidades y reglas dirigen la implementación. Evidencias: docs/requisitos.md, spec.md, plan.md, tasks.md, docs/trazabilidad.md y docs/sdd.md del repositorio. Spec Kit es una herramienta de apoyo al enfoque; no se certifica una ejecución de su CLI.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que frmPrincipal muestra la tabla y las consultas, mientras frmAdmin recibe los datos de ingreso y modificación. Registrar un problema, atenderlo, resolverlo y reabrirlo. La imagen corresponde al formulario renderizado con datos de demostración que no se guardan en el archivo del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fase roja compila pero falla en las tres comprobaciones de reapertura. La fase verde pasa 29 comprobaciones. No confundir estos resultados con una cobertura del 100 %. La consola propia devuelve 1 cuando falla una comprobación. Fuentes: https://learn.microsoft.com/en-us/dotnet/core/testing/unit-testing-best-practices y evidencia https://github.com/Nicolas65a/incidencias-devops-csharp/actions/runs/39645265303 y https://github.com/Nicolas65a/incidencias-devops-csharp/actions/runs/39645598929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versión histórica TDD tuvo 29 comprobaciones. La ampliación conserva esas 29 y agrega 21 de interfaz e integración: 50 en total. Fuente: Pruebas/Program.cs, Pruebas/PruebasInterfaz.cs y docs/trazabilidad.md. CA14 se comprueba con Roslyn. Los resultados no son cobertura del 100 %. Issue #5 y PR #6 identifican el cambio. La revisión humana del Issue #3 permanece 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workflow de GitHub Actions compila con MSBuild, ejecuta Pruebas.exe y genera el ZIP si no hay fallos. Una etiqueta v* activa la publicación en una release privada. Distribuir un ejecutable no equivale a instalarlo en todos los equipos de la empresa. Fuentes: https://docs.github.com/en/actions/use-cases-and-examples/building-and-testing/building-and-testing-net y .github/workflows/ci.yml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Copilot se propone como apoyo. Esta preparación se realizó con asistencia de Codex y no se atribuye a una sesión inexistente de GitHub Copilot. El grupo dispone de instrucciones y un prompt reproducible para usar Copilot. Fuentes: https://docs.github.com/en/copilot/responsible-use/inline-suggestions y docs/flujo.md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Issues describen necesidades, Projects organiza el trabajo y Milestones agrupa objetivos. Los roles se proponen para dos estudiantes y no certifican actividades que todavía no realizaron. Fuente: https://docs.github.com/en/issues/planning-and-tracking-with-projects/learning-about-projects/about-projects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Responder las cuatro preguntas de la consigna. Git identifica cambios recuperables, DevOps permite retroalimentación, la IA apoya propuestas que necesitan revisión y GitHub resulta útil para reunir historia y discusión en este caso. El prototipo es local y el trabajo académico requiere participación de ambos estudiantes.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cf521212a43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fe6ff6b5d4c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30104e9ca4a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a2ea7967f47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c3e7e2fc944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8f9db9c054b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D47E85-256B-441B-970B-9A9DAC5C0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0D34BE-5DC5-4A7A-AB64-2E91EC4069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5110A8-225A-4D3E-9B3D-D39E96A07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4510B3-BB25-4817-9214-A075505A3D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BEDF22-CAF6-418D-AB60-FC6F054D86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62C797-5810-4147-8B94-775163EA21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2BB7DC-DED9-4493-A8BA-33FB9F18B6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EC1CCA-A125-4FF1-80D3-036A025402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447350-58DD-41B9-9894-49D8FDB27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A5A339-EEEE-4827-818E-D87611603A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2724b58b334400" /><Relationship Type="http://schemas.openxmlformats.org/officeDocument/2006/relationships/slideLayout" Target="/ppt/slideLayouts/slideLayout1.xml" Id="R502b7f3fc4a94158" /><Relationship Type="http://schemas.openxmlformats.org/officeDocument/2006/relationships/slideLayout" Target="/ppt/slideLayouts/slideLayout2.xml" Id="R605de01ab6b5406c" /><Relationship Type="http://schemas.openxmlformats.org/officeDocument/2006/relationships/slideLayout" Target="/ppt/slideLayouts/slideLayout3.xml" Id="R0932b618d3294907" /><Relationship Type="http://schemas.openxmlformats.org/officeDocument/2006/relationships/slideLayout" Target="/ppt/slideLayouts/slideLayout4.xml" Id="Rdafc1b9074a444a2" /><Relationship Type="http://schemas.openxmlformats.org/officeDocument/2006/relationships/slideLayout" Target="/ppt/slideLayouts/slideLayout5.xml" Id="R2446fa7db17848e4" /><Relationship Type="http://schemas.openxmlformats.org/officeDocument/2006/relationships/slideLayout" Target="/ppt/slideLayouts/slideLayout6.xml" Id="R774077a5424046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2b7f3fc4a94158"/>
    <p:sldLayoutId xmlns:r="http://schemas.openxmlformats.org/officeDocument/2006/relationships" id="2147483650" r:id="R605de01ab6b5406c"/>
    <p:sldLayoutId xmlns:r="http://schemas.openxmlformats.org/officeDocument/2006/relationships" id="2147483651" r:id="R0932b618d3294907"/>
    <p:sldLayoutId xmlns:r="http://schemas.openxmlformats.org/officeDocument/2006/relationships" id="2147483652" r:id="Rdafc1b9074a444a2"/>
    <p:sldLayoutId xmlns:r="http://schemas.openxmlformats.org/officeDocument/2006/relationships" id="2147483653" r:id="R2446fa7db17848e4"/>
    <p:sldLayoutId xmlns:r="http://schemas.openxmlformats.org/officeDocument/2006/relationships" id="2147483654" r:id="R774077a5424046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405f33e4ba4128" /><Relationship Type="http://schemas.openxmlformats.org/officeDocument/2006/relationships/notesSlide" Target="/ppt/notesSlides/notesSlide1.xml" Id="Rbf8d2750297a43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baf0075d44435" /><Relationship Type="http://schemas.openxmlformats.org/officeDocument/2006/relationships/notesSlide" Target="/ppt/notesSlides/notesSlide2.xml" Id="Rcc1a9df1e19243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7b7291cd034ab5" /><Relationship Type="http://schemas.openxmlformats.org/officeDocument/2006/relationships/notesSlide" Target="/ppt/notesSlides/notesSlide3.xml" Id="R96278129a34d42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c6ba6665944c7" /><Relationship Type="http://schemas.openxmlformats.org/officeDocument/2006/relationships/notesSlide" Target="/ppt/notesSlides/notesSlide4.xml" Id="Ree5c3bce7b1040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b370c88d7447a" /><Relationship Type="http://schemas.openxmlformats.org/officeDocument/2006/relationships/notesSlide" Target="/ppt/notesSlides/notesSlide5.xml" Id="Rb2a0c5a72ad54f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851bd36a7449f" /><Relationship Type="http://schemas.openxmlformats.org/officeDocument/2006/relationships/image" Target="/ppt/media/image.png" Id="R0a68af82228b4012" /><Relationship Type="http://schemas.openxmlformats.org/officeDocument/2006/relationships/notesSlide" Target="/ppt/notesSlides/notesSlide6.xml" Id="Re2b1fb51c7b042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3241933a74a99" /><Relationship Type="http://schemas.openxmlformats.org/officeDocument/2006/relationships/notesSlide" Target="/ppt/notesSlides/notesSlide7.xml" Id="R6541f7f54d464e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c2d69184a456a" /><Relationship Type="http://schemas.openxmlformats.org/officeDocument/2006/relationships/notesSlide" Target="/ppt/notesSlides/notesSlide8.xml" Id="Rb28e0b8fcd5f4c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8a1c433d84924" /><Relationship Type="http://schemas.openxmlformats.org/officeDocument/2006/relationships/notesSlide" Target="/ppt/notesSlides/notesSlide9.xml" Id="R4de18660d02549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5420fdc4c4ed5" /><Relationship Type="http://schemas.openxmlformats.org/officeDocument/2006/relationships/notesSlide" Target="/ppt/notesSlides/notesSlide10.xml" Id="Rdcd4c585e0d84a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eb964fc8249a7" /><Relationship Type="http://schemas.openxmlformats.org/officeDocument/2006/relationships/notesSlide" Target="/ppt/notesSlides/notesSlide11.xml" Id="R375ef71f1d234a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9ef6e1b0a9453e" /><Relationship Type="http://schemas.openxmlformats.org/officeDocument/2006/relationships/notesSlide" Target="/ppt/notesSlides/notesSlide12.xml" Id="R672739a214224b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o Desarrollo colaborativo c">
            <a:extLst xmlns:a="http://schemas.openxmlformats.org/drawingml/2006/main">
              <a:ext uri="{FF2B5EF4-FFF2-40B4-BE49-F238E27FC236}">
                <a16:creationId xmlns:a16="http://schemas.microsoft.com/office/drawing/2014/main" id="{A993FD1D-51C4-41EB-BCFF-6D4F6030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Desarrollo colaborativo con GitHub</a:t>
            </a:r>
          </a:p>
        </p:txBody>
      </p:sp>
      <p:sp>
        <p:nvSpPr>
          <p:cNvPr id="2" name="Texto PROYECTO PARCIAL I">
            <a:extLst xmlns:a="http://schemas.openxmlformats.org/drawingml/2006/main">
              <a:ext uri="{FF2B5EF4-FFF2-40B4-BE49-F238E27FC236}">
                <a16:creationId xmlns:a16="http://schemas.microsoft.com/office/drawing/2014/main" id="{C84DE9C6-C4E8-48CF-8527-BBFFACE0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PROYECTO PARCIAL I</a:t>
            </a:r>
          </a:p>
        </p:txBody>
      </p:sp>
      <p:sp>
        <p:nvSpPr>
          <p:cNvPr id="3" name="Texto 01">
            <a:extLst xmlns:a="http://schemas.openxmlformats.org/drawingml/2006/main">
              <a:ext uri="{FF2B5EF4-FFF2-40B4-BE49-F238E27FC236}">
                <a16:creationId xmlns:a16="http://schemas.microsoft.com/office/drawing/2014/main" id="{9CC76FE9-66A7-4DA0-AD26-F7C90AAF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o Sistema de incidencias en">
            <a:extLst xmlns:a="http://schemas.openxmlformats.org/drawingml/2006/main">
              <a:ext uri="{FF2B5EF4-FFF2-40B4-BE49-F238E27FC236}">
                <a16:creationId xmlns:a16="http://schemas.microsoft.com/office/drawing/2014/main" id="{71ECC5F2-37BE-4854-B03E-A19C2798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Sistema de incidencias en C#</a:t>
            </a:r>
          </a:p>
        </p:txBody>
      </p:sp>
      <p:sp>
        <p:nvSpPr>
          <p:cNvPr id="5" name="Texto Especificaciones, revisió">
            <a:extLst xmlns:a="http://schemas.openxmlformats.org/drawingml/2006/main">
              <a:ext uri="{FF2B5EF4-FFF2-40B4-BE49-F238E27FC236}">
                <a16:creationId xmlns:a16="http://schemas.microsoft.com/office/drawing/2014/main" id="{2F994BA4-A24B-4B1E-8886-8B44249A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Especificaciones, revisión de cambios y entrega automatizada</a:t>
            </a:r>
          </a:p>
        </p:txBody>
      </p:sp>
      <p:sp>
        <p:nvSpPr>
          <p:cNvPr id="6" name="Texto Estudiante 1: ___________">
            <a:extLst xmlns:a="http://schemas.openxmlformats.org/drawingml/2006/main">
              <a:ext uri="{FF2B5EF4-FFF2-40B4-BE49-F238E27FC236}">
                <a16:creationId xmlns:a16="http://schemas.microsoft.com/office/drawing/2014/main" id="{2B855B28-0B9A-48A1-8D3F-FD653608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9525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Estudiante 1: ______________________________</a:t>
            </a:r>
          </a:p>
          <a:p xmlns:a="http://schemas.openxmlformats.org/drawingml/2006/main">
            <a: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Estudiante 2: ______________________________</a:t>
            </a:r>
          </a:p>
          <a:p xmlns:a="http://schemas.openxmlformats.org/drawingml/2006/main">
            <a: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Docente: 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252987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 Problemas de la empresa">
            <a:extLst xmlns:a="http://schemas.openxmlformats.org/drawingml/2006/main">
              <a:ext uri="{FF2B5EF4-FFF2-40B4-BE49-F238E27FC236}">
                <a16:creationId xmlns:a16="http://schemas.microsoft.com/office/drawing/2014/main" id="{0A6ED71A-B674-401B-8F53-A09CFEA0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Problemas de la empresa</a:t>
            </a:r>
          </a:p>
        </p:txBody>
      </p:sp>
      <p:sp>
        <p:nvSpPr>
          <p:cNvPr id="2" name="Texto PROYECTO PARCIAL I">
            <a:extLst xmlns:a="http://schemas.openxmlformats.org/drawingml/2006/main">
              <a:ext uri="{FF2B5EF4-FFF2-40B4-BE49-F238E27FC236}">
                <a16:creationId xmlns:a16="http://schemas.microsoft.com/office/drawing/2014/main" id="{BAAB6179-5AFC-4883-982B-58A8FAFD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PROYECTO PARCIAL I</a:t>
            </a:r>
          </a:p>
        </p:txBody>
      </p:sp>
      <p:sp>
        <p:nvSpPr>
          <p:cNvPr id="3" name="Texto 02">
            <a:extLst xmlns:a="http://schemas.openxmlformats.org/drawingml/2006/main">
              <a:ext uri="{FF2B5EF4-FFF2-40B4-BE49-F238E27FC236}">
                <a16:creationId xmlns:a16="http://schemas.microsoft.com/office/drawing/2014/main" id="{9F3DA36F-ADA1-4EF7-9F74-E2873409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o 01">
            <a:extLst xmlns:a="http://schemas.openxmlformats.org/drawingml/2006/main">
              <a:ext uri="{FF2B5EF4-FFF2-40B4-BE49-F238E27FC236}">
                <a16:creationId xmlns:a16="http://schemas.microsoft.com/office/drawing/2014/main" id="{52A7A71D-CA86-48A0-B7ED-315682FC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o Versiones que se pierden">
            <a:extLst xmlns:a="http://schemas.openxmlformats.org/drawingml/2006/main">
              <a:ext uri="{FF2B5EF4-FFF2-40B4-BE49-F238E27FC236}">
                <a16:creationId xmlns:a16="http://schemas.microsoft.com/office/drawing/2014/main" id="{03A450BB-3910-4970-971F-485083CF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Versiones que se pierden</a:t>
            </a:r>
          </a:p>
        </p:txBody>
      </p:sp>
      <p:sp>
        <p:nvSpPr>
          <p:cNvPr id="6" name="Texto Cuesta identificar qué ca">
            <a:extLst xmlns:a="http://schemas.openxmlformats.org/drawingml/2006/main">
              <a:ext uri="{FF2B5EF4-FFF2-40B4-BE49-F238E27FC236}">
                <a16:creationId xmlns:a16="http://schemas.microsoft.com/office/drawing/2014/main" id="{D2FC92C8-BF36-4039-B3F7-E81D5F96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62175"/>
            <a:ext cx="938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Cuesta identificar qué cambió y recuperar una entrega estable.</a:t>
            </a:r>
          </a:p>
        </p:txBody>
      </p:sp>
      <p:sp>
        <p:nvSpPr>
          <p:cNvPr id="7" name="Texto 02">
            <a:extLst xmlns:a="http://schemas.openxmlformats.org/drawingml/2006/main">
              <a:ext uri="{FF2B5EF4-FFF2-40B4-BE49-F238E27FC236}">
                <a16:creationId xmlns:a16="http://schemas.microsoft.com/office/drawing/2014/main" id="{3631E500-D93D-408A-A0C5-54A554BC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o Trabajo sin una referenci">
            <a:extLst xmlns:a="http://schemas.openxmlformats.org/drawingml/2006/main">
              <a:ext uri="{FF2B5EF4-FFF2-40B4-BE49-F238E27FC236}">
                <a16:creationId xmlns:a16="http://schemas.microsoft.com/office/drawing/2014/main" id="{BDE12621-7507-41C9-9C7D-610A94FB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Trabajo sin una referencia compartida</a:t>
            </a:r>
          </a:p>
        </p:txBody>
      </p:sp>
      <p:sp>
        <p:nvSpPr>
          <p:cNvPr id="9" name="Texto Las tareas y las decision">
            <a:extLst xmlns:a="http://schemas.openxmlformats.org/drawingml/2006/main">
              <a:ext uri="{FF2B5EF4-FFF2-40B4-BE49-F238E27FC236}">
                <a16:creationId xmlns:a16="http://schemas.microsoft.com/office/drawing/2014/main" id="{EB8AE89D-D22A-4EDB-AF45-4632361A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938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Las tareas y las decisiones quedan dispersas entre integrantes.</a:t>
            </a:r>
          </a:p>
        </p:txBody>
      </p:sp>
      <p:sp>
        <p:nvSpPr>
          <p:cNvPr id="10" name="Texto 03">
            <a:extLst xmlns:a="http://schemas.openxmlformats.org/drawingml/2006/main">
              <a:ext uri="{FF2B5EF4-FFF2-40B4-BE49-F238E27FC236}">
                <a16:creationId xmlns:a16="http://schemas.microsoft.com/office/drawing/2014/main" id="{8FFAAA19-2C21-4CAE-8B45-0A94EC17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o Errores y documentación i">
            <a:extLst xmlns:a="http://schemas.openxmlformats.org/drawingml/2006/main">
              <a:ext uri="{FF2B5EF4-FFF2-40B4-BE49-F238E27FC236}">
                <a16:creationId xmlns:a16="http://schemas.microsoft.com/office/drawing/2014/main" id="{CFD22453-9CAF-470A-A707-EA3BB1A3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Errores y documentación insuficiente</a:t>
            </a:r>
          </a:p>
        </p:txBody>
      </p:sp>
      <p:sp>
        <p:nvSpPr>
          <p:cNvPr id="12" name="Texto Los cambios llegan a la e">
            <a:extLst xmlns:a="http://schemas.openxmlformats.org/drawingml/2006/main">
              <a:ext uri="{FF2B5EF4-FFF2-40B4-BE49-F238E27FC236}">
                <a16:creationId xmlns:a16="http://schemas.microsoft.com/office/drawing/2014/main" id="{BE98269F-25BA-4AE1-9284-4184DCA4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14925"/>
            <a:ext cx="938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Los cambios llegan a la entrega sin comprobaciones repetibles.</a:t>
            </a:r>
          </a:p>
        </p:txBody>
      </p:sp>
    </p:spTree>
    <p:extLst>
      <p:ext uri="{BB962C8B-B14F-4D97-AF65-F5344CB8AC3E}">
        <p14:creationId xmlns:p14="http://schemas.microsoft.com/office/powerpoint/2010/main" val="1394831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Modelo de trabajo propues">
            <a:extLst xmlns:a="http://schemas.openxmlformats.org/drawingml/2006/main">
              <a:ext uri="{FF2B5EF4-FFF2-40B4-BE49-F238E27FC236}">
                <a16:creationId xmlns:a16="http://schemas.microsoft.com/office/drawing/2014/main" id="{653B1EF0-EC4B-4263-8120-846D94C5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Modelo de trabajo propuesto</a:t>
            </a:r>
          </a:p>
        </p:txBody>
      </p:sp>
      <p:sp>
        <p:nvSpPr>
          <p:cNvPr id="2" name="Texto PROYECTO PARCIAL I">
            <a:extLst xmlns:a="http://schemas.openxmlformats.org/drawingml/2006/main">
              <a:ext uri="{FF2B5EF4-FFF2-40B4-BE49-F238E27FC236}">
                <a16:creationId xmlns:a16="http://schemas.microsoft.com/office/drawing/2014/main" id="{774564C9-D332-4B35-A5F8-4C5B87CB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PROYECTO PARCIAL I</a:t>
            </a:r>
          </a:p>
        </p:txBody>
      </p:sp>
      <p:sp>
        <p:nvSpPr>
          <p:cNvPr id="3" name="Texto 03">
            <a:extLst xmlns:a="http://schemas.openxmlformats.org/drawingml/2006/main">
              <a:ext uri="{FF2B5EF4-FFF2-40B4-BE49-F238E27FC236}">
                <a16:creationId xmlns:a16="http://schemas.microsoft.com/office/drawing/2014/main" id="{A86B2CFB-10FB-498D-A870-89AFF602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o 1  Especificar el comport">
            <a:extLst xmlns:a="http://schemas.openxmlformats.org/drawingml/2006/main">
              <a:ext uri="{FF2B5EF4-FFF2-40B4-BE49-F238E27FC236}">
                <a16:creationId xmlns:a16="http://schemas.microsoft.com/office/drawing/2014/main" id="{FBDD882D-4FC3-48F5-A975-623578DD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  Especificar el comportamiento</a:t>
            </a:r>
          </a:p>
        </p:txBody>
      </p:sp>
      <p:sp>
        <p:nvSpPr>
          <p:cNvPr id="5" name="Texto 2  Preparar el cambio en ">
            <a:extLst xmlns:a="http://schemas.openxmlformats.org/drawingml/2006/main">
              <a:ext uri="{FF2B5EF4-FFF2-40B4-BE49-F238E27FC236}">
                <a16:creationId xmlns:a16="http://schemas.microsoft.com/office/drawing/2014/main" id="{5B55FCA2-C732-4489-8CA0-9429217F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2  Preparar el cambio en una rama corta</a:t>
            </a:r>
          </a:p>
        </p:txBody>
      </p:sp>
      <p:sp>
        <p:nvSpPr>
          <p:cNvPr id="6" name="Texto 3  Revisar el pull reques">
            <a:extLst xmlns:a="http://schemas.openxmlformats.org/drawingml/2006/main">
              <a:ext uri="{FF2B5EF4-FFF2-40B4-BE49-F238E27FC236}">
                <a16:creationId xmlns:a16="http://schemas.microsoft.com/office/drawing/2014/main" id="{2486811C-34B1-4A71-BB53-1A354233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3  Revisar el pull request y ejecutar pruebas</a:t>
            </a:r>
          </a:p>
        </p:txBody>
      </p:sp>
      <p:sp>
        <p:nvSpPr>
          <p:cNvPr id="7" name="Texto 4  Integrar y distribuir ">
            <a:extLst xmlns:a="http://schemas.openxmlformats.org/drawingml/2006/main">
              <a:ext uri="{FF2B5EF4-FFF2-40B4-BE49-F238E27FC236}">
                <a16:creationId xmlns:a16="http://schemas.microsoft.com/office/drawing/2014/main" id="{F668E221-B6AD-4902-BC99-8FDA80F4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4  Integrar y distribuir la versión validada</a:t>
            </a:r>
          </a:p>
        </p:txBody>
      </p:sp>
      <p:sp>
        <p:nvSpPr>
          <p:cNvPr id="8" name="Texto Cada paso conserva una ev">
            <a:extLst xmlns:a="http://schemas.openxmlformats.org/drawingml/2006/main">
              <a:ext uri="{FF2B5EF4-FFF2-40B4-BE49-F238E27FC236}">
                <a16:creationId xmlns:a16="http://schemas.microsoft.com/office/drawing/2014/main" id="{73A22494-6FE7-4F95-ADB5-430F35AF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Cada paso conserva una evidencia que el equipo puede revisar.</a:t>
            </a:r>
          </a:p>
        </p:txBody>
      </p:sp>
    </p:spTree>
    <p:extLst>
      <p:ext uri="{BB962C8B-B14F-4D97-AF65-F5344CB8AC3E}">
        <p14:creationId xmlns:p14="http://schemas.microsoft.com/office/powerpoint/2010/main" val="306404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Git Flow y ramas cortas">
            <a:extLst xmlns:a="http://schemas.openxmlformats.org/drawingml/2006/main">
              <a:ext uri="{FF2B5EF4-FFF2-40B4-BE49-F238E27FC236}">
                <a16:creationId xmlns:a16="http://schemas.microsoft.com/office/drawing/2014/main" id="{941BF942-35F6-4E39-9E72-DCD18D85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Git Flow y ramas cortas</a:t>
            </a:r>
          </a:p>
        </p:txBody>
      </p:sp>
      <p:sp>
        <p:nvSpPr>
          <p:cNvPr id="2" name="Texto PROYECTO PARCIAL I">
            <a:extLst xmlns:a="http://schemas.openxmlformats.org/drawingml/2006/main">
              <a:ext uri="{FF2B5EF4-FFF2-40B4-BE49-F238E27FC236}">
                <a16:creationId xmlns:a16="http://schemas.microsoft.com/office/drawing/2014/main" id="{AEA90A19-2A56-4450-AA2A-9D05255E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PROYECTO PARCIAL I</a:t>
            </a:r>
          </a:p>
        </p:txBody>
      </p:sp>
      <p:sp>
        <p:nvSpPr>
          <p:cNvPr id="3" name="Texto 04">
            <a:extLst xmlns:a="http://schemas.openxmlformats.org/drawingml/2006/main">
              <a:ext uri="{FF2B5EF4-FFF2-40B4-BE49-F238E27FC236}">
                <a16:creationId xmlns:a16="http://schemas.microsoft.com/office/drawing/2014/main" id="{C4FE3666-77D5-47A9-8A00-9F6609B6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o Git Flow">
            <a:extLst xmlns:a="http://schemas.openxmlformats.org/drawingml/2006/main">
              <a:ext uri="{FF2B5EF4-FFF2-40B4-BE49-F238E27FC236}">
                <a16:creationId xmlns:a16="http://schemas.microsoft.com/office/drawing/2014/main" id="{2CDFCB2E-568E-495D-951A-45406D8C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Git Flow</a:t>
            </a:r>
          </a:p>
        </p:txBody>
      </p:sp>
      <p:sp>
        <p:nvSpPr>
          <p:cNvPr id="5" name="Texto Varias ramas de larga dur">
            <a:extLst xmlns:a="http://schemas.openxmlformats.org/drawingml/2006/main">
              <a:ext uri="{FF2B5EF4-FFF2-40B4-BE49-F238E27FC236}">
                <a16:creationId xmlns:a16="http://schemas.microsoft.com/office/drawing/2014/main" id="{FA1CEF2E-8779-4B6C-9221-28B68670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Varias ramas de larga duración.</a:t>
            </a:r>
          </a:p>
          <a:p xmlns:a="http://schemas.openxmlformats.org/drawingml/2006/main">
            <a: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Útil si se mantienen distintas versiones.</a:t>
            </a:r>
          </a:p>
          <a:p xmlns:a="http://schemas.openxmlformats.org/drawingml/2006/main">
            <a: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Exige coordinar más integraciones.</a:t>
            </a:r>
          </a:p>
        </p:txBody>
      </p:sp>
      <p:sp>
        <p:nvSpPr>
          <p:cNvPr id="6" name="Texto Elección para este equipo">
            <a:extLst xmlns:a="http://schemas.openxmlformats.org/drawingml/2006/main">
              <a:ext uri="{FF2B5EF4-FFF2-40B4-BE49-F238E27FC236}">
                <a16:creationId xmlns:a16="http://schemas.microsoft.com/office/drawing/2014/main" id="{59CB0EB8-5108-45EF-9B25-9376ED7F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Elección para este equipo</a:t>
            </a:r>
          </a:p>
        </p:txBody>
      </p:sp>
      <p:sp>
        <p:nvSpPr>
          <p:cNvPr id="7" name="Texto Main y ramas pequeñas con">
            <a:extLst xmlns:a="http://schemas.openxmlformats.org/drawingml/2006/main">
              <a:ext uri="{FF2B5EF4-FFF2-40B4-BE49-F238E27FC236}">
                <a16:creationId xmlns:a16="http://schemas.microsoft.com/office/drawing/2014/main" id="{3842E5C7-1A10-4583-9D1E-A8A2F30B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857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Main y ramas pequeñas con PR.</a:t>
            </a:r>
          </a:p>
          <a:p xmlns:a="http://schemas.openxmlformats.org/drawingml/2006/main">
            <a: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Revisión entre los dos estudiantes.</a:t>
            </a:r>
          </a:p>
          <a:p xmlns:a="http://schemas.openxmlformats.org/drawingml/2006/main">
            <a:pPr>
              <a:defRPr sz="20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Meta de integración diaria.</a:t>
            </a:r>
          </a:p>
        </p:txBody>
      </p:sp>
      <p:sp>
        <p:nvSpPr>
          <p:cNvPr id="8" name="Texto GitHub Flow será el flujo">
            <a:extLst xmlns:a="http://schemas.openxmlformats.org/drawingml/2006/main">
              <a:ext uri="{FF2B5EF4-FFF2-40B4-BE49-F238E27FC236}">
                <a16:creationId xmlns:a16="http://schemas.microsoft.com/office/drawing/2014/main" id="{BD773257-CB00-42D8-8BF5-C0132911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GitHub Flow será el flujo del ejercicio. La duración de las ramas importa.</a:t>
            </a:r>
          </a:p>
        </p:txBody>
      </p:sp>
    </p:spTree>
    <p:extLst>
      <p:ext uri="{BB962C8B-B14F-4D97-AF65-F5344CB8AC3E}">
        <p14:creationId xmlns:p14="http://schemas.microsoft.com/office/powerpoint/2010/main" val="1556010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o Las seis fases de SDD">
            <a:extLst xmlns:a="http://schemas.openxmlformats.org/drawingml/2006/main">
              <a:ext uri="{FF2B5EF4-FFF2-40B4-BE49-F238E27FC236}">
                <a16:creationId xmlns:a16="http://schemas.microsoft.com/office/drawing/2014/main" id="{FB1FF7BE-B1AC-43E6-BD7E-D630BE77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Las seis fases de SDD</a:t>
            </a:r>
          </a:p>
        </p:txBody>
      </p:sp>
      <p:sp>
        <p:nvSpPr>
          <p:cNvPr id="2" name="Texto PROYECTO PARCIAL I">
            <a:extLst xmlns:a="http://schemas.openxmlformats.org/drawingml/2006/main">
              <a:ext uri="{FF2B5EF4-FFF2-40B4-BE49-F238E27FC236}">
                <a16:creationId xmlns:a16="http://schemas.microsoft.com/office/drawing/2014/main" id="{F30119BB-839C-4299-B1D9-6F7C8595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PROYECTO PARCIAL I</a:t>
            </a:r>
          </a:p>
        </p:txBody>
      </p:sp>
      <p:sp>
        <p:nvSpPr>
          <p:cNvPr id="3" name="Texto 05">
            <a:extLst xmlns:a="http://schemas.openxmlformats.org/drawingml/2006/main">
              <a:ext uri="{FF2B5EF4-FFF2-40B4-BE49-F238E27FC236}">
                <a16:creationId xmlns:a16="http://schemas.microsoft.com/office/drawing/2014/main" id="{733AD16F-ABFC-42E0-A206-F4F566BD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o 1  Requerimientos">
            <a:extLst xmlns:a="http://schemas.openxmlformats.org/drawingml/2006/main">
              <a:ext uri="{FF2B5EF4-FFF2-40B4-BE49-F238E27FC236}">
                <a16:creationId xmlns:a16="http://schemas.microsoft.com/office/drawing/2014/main" id="{D65F1E12-2EA3-4B67-8E2D-151AC1BA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  Requerimientos</a:t>
            </a:r>
          </a:p>
        </p:txBody>
      </p:sp>
      <p:sp>
        <p:nvSpPr>
          <p:cNvPr id="5" name="Texto R01–R06: necesidades y re">
            <a:extLst xmlns:a="http://schemas.openxmlformats.org/drawingml/2006/main">
              <a:ext uri="{FF2B5EF4-FFF2-40B4-BE49-F238E27FC236}">
                <a16:creationId xmlns:a16="http://schemas.microsoft.com/office/drawing/2014/main" id="{6B9A7633-D99C-4EF5-B588-71668F44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719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R01–R06: necesidades y reglas de negocio</a:t>
            </a:r>
          </a:p>
        </p:txBody>
      </p:sp>
      <p:sp>
        <p:nvSpPr>
          <p:cNvPr id="6" name="Texto 2  Especificación">
            <a:extLst xmlns:a="http://schemas.openxmlformats.org/drawingml/2006/main">
              <a:ext uri="{FF2B5EF4-FFF2-40B4-BE49-F238E27FC236}">
                <a16:creationId xmlns:a16="http://schemas.microsoft.com/office/drawing/2014/main" id="{4AEF00A1-CF2D-4209-8F41-D57EEA02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2  Especificación</a:t>
            </a:r>
          </a:p>
        </p:txBody>
      </p:sp>
      <p:sp>
        <p:nvSpPr>
          <p:cNvPr id="7" name="Texto HU01–HU03 y 16 criterios ">
            <a:extLst xmlns:a="http://schemas.openxmlformats.org/drawingml/2006/main">
              <a:ext uri="{FF2B5EF4-FFF2-40B4-BE49-F238E27FC236}">
                <a16:creationId xmlns:a16="http://schemas.microsoft.com/office/drawing/2014/main" id="{8AE3BA42-2976-463F-8589-4348346A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719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HU01–HU03 y 16 criterios de aceptación</a:t>
            </a:r>
          </a:p>
        </p:txBody>
      </p:sp>
      <p:sp>
        <p:nvSpPr>
          <p:cNvPr id="8" name="Texto 3  Plan técnico">
            <a:extLst xmlns:a="http://schemas.openxmlformats.org/drawingml/2006/main">
              <a:ext uri="{FF2B5EF4-FFF2-40B4-BE49-F238E27FC236}">
                <a16:creationId xmlns:a16="http://schemas.microsoft.com/office/drawing/2014/main" id="{53EEA467-5D7B-4709-9153-6691FE17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3  Plan técnico</a:t>
            </a:r>
          </a:p>
        </p:txBody>
      </p:sp>
      <p:sp>
        <p:nvSpPr>
          <p:cNvPr id="9" name="Texto Arquitectura y tareas en ">
            <a:extLst xmlns:a="http://schemas.openxmlformats.org/drawingml/2006/main">
              <a:ext uri="{FF2B5EF4-FFF2-40B4-BE49-F238E27FC236}">
                <a16:creationId xmlns:a16="http://schemas.microsoft.com/office/drawing/2014/main" id="{D08C8B71-BBA3-4A27-854A-1DEDC088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719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Arquitectura y tareas en plan.md y tasks.md</a:t>
            </a:r>
          </a:p>
        </p:txBody>
      </p:sp>
      <p:sp>
        <p:nvSpPr>
          <p:cNvPr id="10" name="Texto 4  Implementación">
            <a:extLst xmlns:a="http://schemas.openxmlformats.org/drawingml/2006/main">
              <a:ext uri="{FF2B5EF4-FFF2-40B4-BE49-F238E27FC236}">
                <a16:creationId xmlns:a16="http://schemas.microsoft.com/office/drawing/2014/main" id="{1E3D957C-333A-4AB2-9D4C-D7BBBA90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4  Implementación</a:t>
            </a:r>
          </a:p>
        </p:txBody>
      </p:sp>
      <p:sp>
        <p:nvSpPr>
          <p:cNvPr id="11" name="Texto Codex genera y ajusta cód">
            <a:extLst xmlns:a="http://schemas.openxmlformats.org/drawingml/2006/main">
              <a:ext uri="{FF2B5EF4-FFF2-40B4-BE49-F238E27FC236}">
                <a16:creationId xmlns:a16="http://schemas.microsoft.com/office/drawing/2014/main" id="{60580517-5FE6-40A0-ACAD-E780A988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719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Codex genera y ajusta código según las reglas</a:t>
            </a:r>
          </a:p>
        </p:txBody>
      </p:sp>
      <p:sp>
        <p:nvSpPr>
          <p:cNvPr id="12" name="Texto 5  Verificación">
            <a:extLst xmlns:a="http://schemas.openxmlformats.org/drawingml/2006/main">
              <a:ext uri="{FF2B5EF4-FFF2-40B4-BE49-F238E27FC236}">
                <a16:creationId xmlns:a16="http://schemas.microsoft.com/office/drawing/2014/main" id="{3FA855CD-EDDC-4B75-A310-B68B6B07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5  Verificación</a:t>
            </a:r>
          </a:p>
        </p:txBody>
      </p:sp>
      <p:sp>
        <p:nvSpPr>
          <p:cNvPr id="13" name="Texto Pruebas contra criterios ">
            <a:extLst xmlns:a="http://schemas.openxmlformats.org/drawingml/2006/main">
              <a:ext uri="{FF2B5EF4-FFF2-40B4-BE49-F238E27FC236}">
                <a16:creationId xmlns:a16="http://schemas.microsoft.com/office/drawing/2014/main" id="{801A361B-4DAB-416D-8960-2A35798A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719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Pruebas contra criterios y revisión de resultados</a:t>
            </a:r>
          </a:p>
        </p:txBody>
      </p:sp>
      <p:sp>
        <p:nvSpPr>
          <p:cNvPr id="14" name="Texto 6  Evolución">
            <a:extLst xmlns:a="http://schemas.openxmlformats.org/drawingml/2006/main">
              <a:ext uri="{FF2B5EF4-FFF2-40B4-BE49-F238E27FC236}">
                <a16:creationId xmlns:a16="http://schemas.microsoft.com/office/drawing/2014/main" id="{A143D54C-49AB-4E99-94F7-DB448547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6  Evolución</a:t>
            </a:r>
          </a:p>
        </p:txBody>
      </p:sp>
      <p:sp>
        <p:nvSpPr>
          <p:cNvPr id="15" name="Texto Cambios trazables mediant">
            <a:extLst xmlns:a="http://schemas.openxmlformats.org/drawingml/2006/main">
              <a:ext uri="{FF2B5EF4-FFF2-40B4-BE49-F238E27FC236}">
                <a16:creationId xmlns:a16="http://schemas.microsoft.com/office/drawing/2014/main" id="{86D28192-6C50-4DAC-A1D3-6BB4E322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43500"/>
            <a:ext cx="719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Cambios trazables mediante commits, PR y versiones</a:t>
            </a:r>
          </a:p>
        </p:txBody>
      </p:sp>
    </p:spTree>
    <p:extLst>
      <p:ext uri="{BB962C8B-B14F-4D97-AF65-F5344CB8AC3E}">
        <p14:creationId xmlns:p14="http://schemas.microsoft.com/office/powerpoint/2010/main" val="1715923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o Aplicación de ejemplo">
            <a:extLst xmlns:a="http://schemas.openxmlformats.org/drawingml/2006/main">
              <a:ext uri="{FF2B5EF4-FFF2-40B4-BE49-F238E27FC236}">
                <a16:creationId xmlns:a16="http://schemas.microsoft.com/office/drawing/2014/main" id="{8CE5A6A6-4DE4-4224-A139-D0CACD16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Aplicación de ejemplo</a:t>
            </a:r>
          </a:p>
        </p:txBody>
      </p:sp>
      <p:sp>
        <p:nvSpPr>
          <p:cNvPr id="2" name="Texto PROYECTO PARCIAL I">
            <a:extLst xmlns:a="http://schemas.openxmlformats.org/drawingml/2006/main">
              <a:ext uri="{FF2B5EF4-FFF2-40B4-BE49-F238E27FC236}">
                <a16:creationId xmlns:a16="http://schemas.microsoft.com/office/drawing/2014/main" id="{05F324C5-218A-4DBF-B5F1-0871ABD9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PROYECTO PARCIAL I</a:t>
            </a:r>
          </a:p>
        </p:txBody>
      </p:sp>
      <p:sp>
        <p:nvSpPr>
          <p:cNvPr id="3" name="Texto 06">
            <a:extLst xmlns:a="http://schemas.openxmlformats.org/drawingml/2006/main">
              <a:ext uri="{FF2B5EF4-FFF2-40B4-BE49-F238E27FC236}">
                <a16:creationId xmlns:a16="http://schemas.microsoft.com/office/drawing/2014/main" id="{57B713A9-F9E9-4678-B43C-565EF10F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F2277-72DE-4074-A567-1E41475A4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8af82228b4012"/>
          <a:stretch xmlns:a="http://schemas.openxmlformats.org/drawingml/2006/main"/>
        </p:blipFill>
        <p:spPr>
          <a:xfrm xmlns:a="http://schemas.openxmlformats.org/drawingml/2006/main">
            <a:off x="1036807" y="1476375"/>
            <a:ext cx="7108486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Texto Dos formularios">
            <a:extLst xmlns:a="http://schemas.openxmlformats.org/drawingml/2006/main">
              <a:ext uri="{FF2B5EF4-FFF2-40B4-BE49-F238E27FC236}">
                <a16:creationId xmlns:a16="http://schemas.microsoft.com/office/drawing/2014/main" id="{2B27E22F-67E5-407C-B99A-8B342FE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097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Dos formularios</a:t>
            </a:r>
          </a:p>
        </p:txBody>
      </p:sp>
      <p:sp>
        <p:nvSpPr>
          <p:cNvPr id="6" name="Texto Gestión con CRUD&#10;&#10;Cambios">
            <a:extLst xmlns:a="http://schemas.openxmlformats.org/drawingml/2006/main">
              <a:ext uri="{FF2B5EF4-FFF2-40B4-BE49-F238E27FC236}">
                <a16:creationId xmlns:a16="http://schemas.microsoft.com/office/drawing/2014/main" id="{6A693034-822C-4BAD-8FF5-2B51E471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619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Gestión con CRUD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Cambios de estado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Consultas con LINQ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Datos locales en XML</a:t>
            </a:r>
          </a:p>
        </p:txBody>
      </p:sp>
    </p:spTree>
    <p:extLst>
      <p:ext uri="{BB962C8B-B14F-4D97-AF65-F5344CB8AC3E}">
        <p14:creationId xmlns:p14="http://schemas.microsoft.com/office/powerpoint/2010/main" val="21239486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TDD con una regla concret">
            <a:extLst xmlns:a="http://schemas.openxmlformats.org/drawingml/2006/main">
              <a:ext uri="{FF2B5EF4-FFF2-40B4-BE49-F238E27FC236}">
                <a16:creationId xmlns:a16="http://schemas.microsoft.com/office/drawing/2014/main" id="{FB280EE7-60F4-43FC-9EE9-2E52D75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TDD con una regla concreta</a:t>
            </a:r>
          </a:p>
        </p:txBody>
      </p:sp>
      <p:sp>
        <p:nvSpPr>
          <p:cNvPr id="2" name="Texto PROYECTO PARCIAL I">
            <a:extLst xmlns:a="http://schemas.openxmlformats.org/drawingml/2006/main">
              <a:ext uri="{FF2B5EF4-FFF2-40B4-BE49-F238E27FC236}">
                <a16:creationId xmlns:a16="http://schemas.microsoft.com/office/drawing/2014/main" id="{03BF1824-9528-4C64-8DBA-226A2121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PROYECTO PARCIAL I</a:t>
            </a:r>
          </a:p>
        </p:txBody>
      </p:sp>
      <p:sp>
        <p:nvSpPr>
          <p:cNvPr id="3" name="Texto 07">
            <a:extLst xmlns:a="http://schemas.openxmlformats.org/drawingml/2006/main">
              <a:ext uri="{FF2B5EF4-FFF2-40B4-BE49-F238E27FC236}">
                <a16:creationId xmlns:a16="http://schemas.microsoft.com/office/drawing/2014/main" id="{C63AE6DA-4656-4EA5-9560-7BDAC414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o Primero se observa el fal">
            <a:extLst xmlns:a="http://schemas.openxmlformats.org/drawingml/2006/main">
              <a:ext uri="{FF2B5EF4-FFF2-40B4-BE49-F238E27FC236}">
                <a16:creationId xmlns:a16="http://schemas.microsoft.com/office/drawing/2014/main" id="{79F4E1B9-A05D-4252-B18E-3B2BF651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B4433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B4433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B4433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B4433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B4433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B4433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B4433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B4433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B4433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B443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443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44332"/>
                </a:solidFill>
                <a:latin typeface="Arial"/>
                <a:ea typeface="Arial"/>
                <a:cs typeface="Arial"/>
              </a:rPr>
              <a:t>Primero se observa el fallo</a:t>
            </a:r>
          </a:p>
        </p:txBody>
      </p:sp>
      <p:sp>
        <p:nvSpPr>
          <p:cNvPr id="5" name="Texto 3 comprobaciones de reape">
            <a:extLst xmlns:a="http://schemas.openxmlformats.org/drawingml/2006/main">
              <a:ext uri="{FF2B5EF4-FFF2-40B4-BE49-F238E27FC236}">
                <a16:creationId xmlns:a16="http://schemas.microsoft.com/office/drawing/2014/main" id="{C3193901-A90C-4657-A946-BF6ECE70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05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3 comprobaciones de reapertura fallan.</a:t>
            </a:r>
          </a:p>
          <a:p xmlns:a="http://schemas.openxmlformats.org/drawingml/2006/main">
            <a: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La compilación sí pasa.</a:t>
            </a:r>
          </a:p>
          <a:p xmlns:a="http://schemas.openxmlformats.org/drawingml/2006/main">
            <a: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Actions bloquea el paquete.</a:t>
            </a:r>
          </a:p>
        </p:txBody>
      </p:sp>
      <p:sp>
        <p:nvSpPr>
          <p:cNvPr id="6" name="Texto Después se implementa la ">
            <a:extLst xmlns:a="http://schemas.openxmlformats.org/drawingml/2006/main">
              <a:ext uri="{FF2B5EF4-FFF2-40B4-BE49-F238E27FC236}">
                <a16:creationId xmlns:a16="http://schemas.microsoft.com/office/drawing/2014/main" id="{CB195880-7393-4B04-A6A8-D031DAAC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Después se implementa la regla</a:t>
            </a:r>
          </a:p>
        </p:txBody>
      </p:sp>
      <p:sp>
        <p:nvSpPr>
          <p:cNvPr id="7" name="Texto 29 comprobaciones aprobad">
            <a:extLst xmlns:a="http://schemas.openxmlformats.org/drawingml/2006/main">
              <a:ext uri="{FF2B5EF4-FFF2-40B4-BE49-F238E27FC236}">
                <a16:creationId xmlns:a16="http://schemas.microsoft.com/office/drawing/2014/main" id="{78E3019F-044B-434A-8FBE-602F2111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905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29 comprobaciones aprobadas.</a:t>
            </a:r>
          </a:p>
          <a:p xmlns:a="http://schemas.openxmlformats.org/drawingml/2006/main">
            <a: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La entidad controla la transición.</a:t>
            </a:r>
          </a:p>
          <a:p xmlns:a="http://schemas.openxmlformats.org/drawingml/2006/main">
            <a: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La interfaz usa esa misma regla.</a:t>
            </a:r>
          </a:p>
        </p:txBody>
      </p:sp>
      <p:sp>
        <p:nvSpPr>
          <p:cNvPr id="8" name="Texto Las pruebas verifican reg">
            <a:extLst xmlns:a="http://schemas.openxmlformats.org/drawingml/2006/main">
              <a:ext uri="{FF2B5EF4-FFF2-40B4-BE49-F238E27FC236}">
                <a16:creationId xmlns:a16="http://schemas.microsoft.com/office/drawing/2014/main" id="{0F46D92F-E22D-4126-8407-442BEC91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Las pruebas verifican reglas válidas, rechazos y conservación de datos.</a:t>
            </a:r>
          </a:p>
        </p:txBody>
      </p:sp>
    </p:spTree>
    <p:extLst>
      <p:ext uri="{BB962C8B-B14F-4D97-AF65-F5344CB8AC3E}">
        <p14:creationId xmlns:p14="http://schemas.microsoft.com/office/powerpoint/2010/main" val="254079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o Verificación y trazabilid">
            <a:extLst xmlns:a="http://schemas.openxmlformats.org/drawingml/2006/main">
              <a:ext uri="{FF2B5EF4-FFF2-40B4-BE49-F238E27FC236}">
                <a16:creationId xmlns:a16="http://schemas.microsoft.com/office/drawing/2014/main" id="{207057CF-56AB-48ED-8AF8-003193A6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Verificación y trazabilidad</a:t>
            </a:r>
          </a:p>
        </p:txBody>
      </p:sp>
      <p:sp>
        <p:nvSpPr>
          <p:cNvPr id="2" name="Texto PROYECTO PARCIAL I">
            <a:extLst xmlns:a="http://schemas.openxmlformats.org/drawingml/2006/main">
              <a:ext uri="{FF2B5EF4-FFF2-40B4-BE49-F238E27FC236}">
                <a16:creationId xmlns:a16="http://schemas.microsoft.com/office/drawing/2014/main" id="{3CAFFD06-08AF-42EF-95B3-67C4F200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PROYECTO PARCIAL I</a:t>
            </a:r>
          </a:p>
        </p:txBody>
      </p:sp>
      <p:sp>
        <p:nvSpPr>
          <p:cNvPr id="3" name="Texto 08">
            <a:extLst xmlns:a="http://schemas.openxmlformats.org/drawingml/2006/main">
              <a:ext uri="{FF2B5EF4-FFF2-40B4-BE49-F238E27FC236}">
                <a16:creationId xmlns:a16="http://schemas.microsoft.com/office/drawing/2014/main" id="{F447AC00-F13C-4B39-B40C-D0DAE3F0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o 50 comprobaciones">
            <a:extLst xmlns:a="http://schemas.openxmlformats.org/drawingml/2006/main">
              <a:ext uri="{FF2B5EF4-FFF2-40B4-BE49-F238E27FC236}">
                <a16:creationId xmlns:a16="http://schemas.microsoft.com/office/drawing/2014/main" id="{A8E23F20-B6D9-410A-AC50-0C697F3E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50 comprobaciones</a:t>
            </a:r>
          </a:p>
        </p:txBody>
      </p:sp>
      <p:sp>
        <p:nvSpPr>
          <p:cNvPr id="5" name="Texto 29 de lógica y XML + 21 d">
            <a:extLst xmlns:a="http://schemas.openxmlformats.org/drawingml/2006/main">
              <a:ext uri="{FF2B5EF4-FFF2-40B4-BE49-F238E27FC236}">
                <a16:creationId xmlns:a16="http://schemas.microsoft.com/office/drawing/2014/main" id="{C4439AB9-D2F5-4AED-9B0E-2C305621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29 de lógica y XML + 21 de formularios e integración</a:t>
            </a:r>
          </a:p>
        </p:txBody>
      </p:sp>
      <p:sp>
        <p:nvSpPr>
          <p:cNvPr id="6" name="Texto CA10–CA11   Filtros y res">
            <a:extLst xmlns:a="http://schemas.openxmlformats.org/drawingml/2006/main">
              <a:ext uri="{FF2B5EF4-FFF2-40B4-BE49-F238E27FC236}">
                <a16:creationId xmlns:a16="http://schemas.microsoft.com/office/drawing/2014/main" id="{24F0E571-2690-4947-96EA-B2474555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CA10–CA11   Filtros y resumen por responsable</a:t>
            </a:r>
          </a:p>
        </p:txBody>
      </p:sp>
      <p:sp>
        <p:nvSpPr>
          <p:cNvPr id="7" name="Texto CA01–CA04   Ingreso, modi">
            <a:extLst xmlns:a="http://schemas.openxmlformats.org/drawingml/2006/main">
              <a:ext uri="{FF2B5EF4-FFF2-40B4-BE49-F238E27FC236}">
                <a16:creationId xmlns:a16="http://schemas.microsoft.com/office/drawing/2014/main" id="{19904EC9-B196-4D2D-AF36-6C7685F6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CA01–CA04   Ingreso, modificación y persistencia</a:t>
            </a:r>
          </a:p>
        </p:txBody>
      </p:sp>
      <p:sp>
        <p:nvSpPr>
          <p:cNvPr id="8" name="Texto CA12–CA13   Errores de gu">
            <a:extLst xmlns:a="http://schemas.openxmlformats.org/drawingml/2006/main">
              <a:ext uri="{FF2B5EF4-FFF2-40B4-BE49-F238E27FC236}">
                <a16:creationId xmlns:a16="http://schemas.microsoft.com/office/drawing/2014/main" id="{C7642874-007E-459D-AA64-180500F9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CA12–CA13   Errores de guardado y carga</a:t>
            </a:r>
          </a:p>
        </p:txBody>
      </p:sp>
      <p:sp>
        <p:nvSpPr>
          <p:cNvPr id="9" name="Texto Los 16 criterios enlazan ">
            <a:extLst xmlns:a="http://schemas.openxmlformats.org/drawingml/2006/main">
              <a:ext uri="{FF2B5EF4-FFF2-40B4-BE49-F238E27FC236}">
                <a16:creationId xmlns:a16="http://schemas.microsoft.com/office/drawing/2014/main" id="{7D9923E7-D01F-4EE1-BF8B-FCF32846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Los 16 criterios enlazan código y evidencia en docs/trazabilidad.md.</a:t>
            </a:r>
          </a:p>
        </p:txBody>
      </p:sp>
    </p:spTree>
    <p:extLst>
      <p:ext uri="{BB962C8B-B14F-4D97-AF65-F5344CB8AC3E}">
        <p14:creationId xmlns:p14="http://schemas.microsoft.com/office/powerpoint/2010/main" val="605708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 Compilación pruebas y ent">
            <a:extLst xmlns:a="http://schemas.openxmlformats.org/drawingml/2006/main">
              <a:ext uri="{FF2B5EF4-FFF2-40B4-BE49-F238E27FC236}">
                <a16:creationId xmlns:a16="http://schemas.microsoft.com/office/drawing/2014/main" id="{4EA79274-D55D-4C74-8135-AF494864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Compilación pruebas y entrega</a:t>
            </a:r>
          </a:p>
        </p:txBody>
      </p:sp>
      <p:sp>
        <p:nvSpPr>
          <p:cNvPr id="2" name="Texto PROYECTO PARCIAL I">
            <a:extLst xmlns:a="http://schemas.openxmlformats.org/drawingml/2006/main">
              <a:ext uri="{FF2B5EF4-FFF2-40B4-BE49-F238E27FC236}">
                <a16:creationId xmlns:a16="http://schemas.microsoft.com/office/drawing/2014/main" id="{24B7B959-9A4C-4362-B459-80968490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PROYECTO PARCIAL I</a:t>
            </a:r>
          </a:p>
        </p:txBody>
      </p:sp>
      <p:sp>
        <p:nvSpPr>
          <p:cNvPr id="3" name="Texto 09">
            <a:extLst xmlns:a="http://schemas.openxmlformats.org/drawingml/2006/main">
              <a:ext uri="{FF2B5EF4-FFF2-40B4-BE49-F238E27FC236}">
                <a16:creationId xmlns:a16="http://schemas.microsoft.com/office/drawing/2014/main" id="{D23500F5-B537-4C8D-9D50-1DCFDFB8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o 01">
            <a:extLst xmlns:a="http://schemas.openxmlformats.org/drawingml/2006/main">
              <a:ext uri="{FF2B5EF4-FFF2-40B4-BE49-F238E27FC236}">
                <a16:creationId xmlns:a16="http://schemas.microsoft.com/office/drawing/2014/main" id="{A3A66330-B23E-43DE-9ED4-8FD56309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o Build">
            <a:extLst xmlns:a="http://schemas.openxmlformats.org/drawingml/2006/main">
              <a:ext uri="{FF2B5EF4-FFF2-40B4-BE49-F238E27FC236}">
                <a16:creationId xmlns:a16="http://schemas.microsoft.com/office/drawing/2014/main" id="{618FB693-A613-4A53-80BA-FBC02E68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6" name="Texto MSBuild compila la soluci">
            <a:extLst xmlns:a="http://schemas.openxmlformats.org/drawingml/2006/main">
              <a:ext uri="{FF2B5EF4-FFF2-40B4-BE49-F238E27FC236}">
                <a16:creationId xmlns:a16="http://schemas.microsoft.com/office/drawing/2014/main" id="{7CFD057B-21BB-4AE2-9914-A17F61D8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62175"/>
            <a:ext cx="938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MSBuild compila la solución y trata las advertencias como errores.</a:t>
            </a:r>
          </a:p>
        </p:txBody>
      </p:sp>
      <p:sp>
        <p:nvSpPr>
          <p:cNvPr id="7" name="Texto 02">
            <a:extLst xmlns:a="http://schemas.openxmlformats.org/drawingml/2006/main">
              <a:ext uri="{FF2B5EF4-FFF2-40B4-BE49-F238E27FC236}">
                <a16:creationId xmlns:a16="http://schemas.microsoft.com/office/drawing/2014/main" id="{1A1D8E78-2520-41C9-8CF2-6224E850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o Test">
            <a:extLst xmlns:a="http://schemas.openxmlformats.org/drawingml/2006/main">
              <a:ext uri="{FF2B5EF4-FFF2-40B4-BE49-F238E27FC236}">
                <a16:creationId xmlns:a16="http://schemas.microsoft.com/office/drawing/2014/main" id="{081E5BDC-45FA-42C4-AA61-1A636267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9" name="Texto 50 comprobaciones de lógi">
            <a:extLst xmlns:a="http://schemas.openxmlformats.org/drawingml/2006/main">
              <a:ext uri="{FF2B5EF4-FFF2-40B4-BE49-F238E27FC236}">
                <a16:creationId xmlns:a16="http://schemas.microsoft.com/office/drawing/2014/main" id="{9F5A8093-F572-474A-886E-D082B845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938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50 comprobaciones de lógica, XML e interfaz; Roslyn comprueba las llaves.</a:t>
            </a:r>
          </a:p>
        </p:txBody>
      </p:sp>
      <p:sp>
        <p:nvSpPr>
          <p:cNvPr id="10" name="Texto 03">
            <a:extLst xmlns:a="http://schemas.openxmlformats.org/drawingml/2006/main">
              <a:ext uri="{FF2B5EF4-FFF2-40B4-BE49-F238E27FC236}">
                <a16:creationId xmlns:a16="http://schemas.microsoft.com/office/drawing/2014/main" id="{CB4CBEFC-F418-4859-B3CA-12C779DF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o Entrega">
            <a:extLst xmlns:a="http://schemas.openxmlformats.org/drawingml/2006/main">
              <a:ext uri="{FF2B5EF4-FFF2-40B4-BE49-F238E27FC236}">
                <a16:creationId xmlns:a16="http://schemas.microsoft.com/office/drawing/2014/main" id="{611402C2-9F65-4307-8137-8A04B2A2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Entrega</a:t>
            </a:r>
          </a:p>
        </p:txBody>
      </p:sp>
      <p:sp>
        <p:nvSpPr>
          <p:cNvPr id="12" name="Texto Actions genera un ZIP. Un">
            <a:extLst xmlns:a="http://schemas.openxmlformats.org/drawingml/2006/main">
              <a:ext uri="{FF2B5EF4-FFF2-40B4-BE49-F238E27FC236}">
                <a16:creationId xmlns:a16="http://schemas.microsoft.com/office/drawing/2014/main" id="{DACCA338-54E5-4E4F-BE11-75A994D3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14925"/>
            <a:ext cx="9382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Actions genera un ZIP. Una etiqueta de versión publica la release privada.</a:t>
            </a:r>
          </a:p>
        </p:txBody>
      </p:sp>
    </p:spTree>
    <p:extLst>
      <p:ext uri="{BB962C8B-B14F-4D97-AF65-F5344CB8AC3E}">
        <p14:creationId xmlns:p14="http://schemas.microsoft.com/office/powerpoint/2010/main" val="16714577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o Copilot y revisión del có">
            <a:extLst xmlns:a="http://schemas.openxmlformats.org/drawingml/2006/main">
              <a:ext uri="{FF2B5EF4-FFF2-40B4-BE49-F238E27FC236}">
                <a16:creationId xmlns:a16="http://schemas.microsoft.com/office/drawing/2014/main" id="{C1A85C0B-EBC7-4E52-B527-7D52FFE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Copilot y revisión del código</a:t>
            </a:r>
          </a:p>
        </p:txBody>
      </p:sp>
      <p:sp>
        <p:nvSpPr>
          <p:cNvPr id="2" name="Texto PROYECTO PARCIAL I">
            <a:extLst xmlns:a="http://schemas.openxmlformats.org/drawingml/2006/main">
              <a:ext uri="{FF2B5EF4-FFF2-40B4-BE49-F238E27FC236}">
                <a16:creationId xmlns:a16="http://schemas.microsoft.com/office/drawing/2014/main" id="{E1358B3F-1A41-4406-B036-F22B8630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PROYECTO PARCIAL I</a:t>
            </a:r>
          </a:p>
        </p:txBody>
      </p:sp>
      <p:sp>
        <p:nvSpPr>
          <p:cNvPr id="3" name="Texto 10">
            <a:extLst xmlns:a="http://schemas.openxmlformats.org/drawingml/2006/main">
              <a:ext uri="{FF2B5EF4-FFF2-40B4-BE49-F238E27FC236}">
                <a16:creationId xmlns:a16="http://schemas.microsoft.com/office/drawing/2014/main" id="{7C96C973-98BF-41BB-AA16-8437E37D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o Un prompt con contexto y ">
            <a:extLst xmlns:a="http://schemas.openxmlformats.org/drawingml/2006/main">
              <a:ext uri="{FF2B5EF4-FFF2-40B4-BE49-F238E27FC236}">
                <a16:creationId xmlns:a16="http://schemas.microsoft.com/office/drawing/2014/main" id="{E91FEE3D-CF8F-448C-9C33-E071A63F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Un prompt con contexto y comprobación</a:t>
            </a:r>
          </a:p>
        </p:txBody>
      </p:sp>
      <p:sp>
        <p:nvSpPr>
          <p:cNvPr id="5" name="Texto “Lee CA08 y CA09. Propón ">
            <a:extLst xmlns:a="http://schemas.openxmlformats.org/drawingml/2006/main">
              <a:ext uri="{FF2B5EF4-FFF2-40B4-BE49-F238E27FC236}">
                <a16:creationId xmlns:a16="http://schemas.microsoft.com/office/drawing/2014/main" id="{51193034-3930-4541-9E3A-ED2E1762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“Lee CA08 y CA09. Propón los casos de prueba de reapertura.</a:t>
            </a:r>
          </a:p>
          <a:p xmlns:a="http://schemas.openxmlformats.org/drawingml/2006/main">
            <a: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Conserva campos privados, constructores y propiedades explícitas.</a:t>
            </a:r>
          </a:p>
          <a:p xmlns:a="http://schemas.openxmlformats.org/drawingml/2006/main">
            <a: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Usa llaves en todos los bloques. No agregues formularios.</a:t>
            </a:r>
          </a:p>
          <a:p xmlns:a="http://schemas.openxmlformats.org/drawingml/2006/main">
            <a:pPr>
              <a:defRPr sz="21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Ejecuta las pruebas y explica el resultado.”</a:t>
            </a:r>
          </a:p>
        </p:txBody>
      </p:sp>
      <p:sp>
        <p:nvSpPr>
          <p:cNvPr id="6" name="Texto La especificación dirige ">
            <a:extLst xmlns:a="http://schemas.openxmlformats.org/drawingml/2006/main">
              <a:ext uri="{FF2B5EF4-FFF2-40B4-BE49-F238E27FC236}">
                <a16:creationId xmlns:a16="http://schemas.microsoft.com/office/drawing/2014/main" id="{24B11658-EA05-4965-8755-E9E32D06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La especificación dirige a la IA; el estudiante comprende y valida el resultado.</a:t>
            </a:r>
          </a:p>
        </p:txBody>
      </p:sp>
    </p:spTree>
    <p:extLst>
      <p:ext uri="{BB962C8B-B14F-4D97-AF65-F5344CB8AC3E}">
        <p14:creationId xmlns:p14="http://schemas.microsoft.com/office/powerpoint/2010/main" val="10234231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Organización y revisión d">
            <a:extLst xmlns:a="http://schemas.openxmlformats.org/drawingml/2006/main">
              <a:ext uri="{FF2B5EF4-FFF2-40B4-BE49-F238E27FC236}">
                <a16:creationId xmlns:a16="http://schemas.microsoft.com/office/drawing/2014/main" id="{DB24DAB9-C0D3-401B-A657-F593E077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Organización y revisión del equipo</a:t>
            </a:r>
          </a:p>
        </p:txBody>
      </p:sp>
      <p:sp>
        <p:nvSpPr>
          <p:cNvPr id="2" name="Texto PROYECTO PARCIAL I">
            <a:extLst xmlns:a="http://schemas.openxmlformats.org/drawingml/2006/main">
              <a:ext uri="{FF2B5EF4-FFF2-40B4-BE49-F238E27FC236}">
                <a16:creationId xmlns:a16="http://schemas.microsoft.com/office/drawing/2014/main" id="{613049E2-8821-4D86-97F6-26973534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PROYECTO PARCIAL I</a:t>
            </a:r>
          </a:p>
        </p:txBody>
      </p:sp>
      <p:sp>
        <p:nvSpPr>
          <p:cNvPr id="3" name="Texto 11">
            <a:extLst xmlns:a="http://schemas.openxmlformats.org/drawingml/2006/main">
              <a:ext uri="{FF2B5EF4-FFF2-40B4-BE49-F238E27FC236}">
                <a16:creationId xmlns:a16="http://schemas.microsoft.com/office/drawing/2014/main" id="{D2D7499D-C3E9-46D0-9370-DC0EAD68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o Issues con criterios de a">
            <a:extLst xmlns:a="http://schemas.openxmlformats.org/drawingml/2006/main">
              <a:ext uri="{FF2B5EF4-FFF2-40B4-BE49-F238E27FC236}">
                <a16:creationId xmlns:a16="http://schemas.microsoft.com/office/drawing/2014/main" id="{32687E95-511D-412F-AC52-2F136471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Issues con criterios de aceptación</a:t>
            </a:r>
          </a:p>
        </p:txBody>
      </p:sp>
      <p:sp>
        <p:nvSpPr>
          <p:cNvPr id="5" name="Texto Issue #5 → PR #6 → criter">
            <a:extLst xmlns:a="http://schemas.openxmlformats.org/drawingml/2006/main">
              <a:ext uri="{FF2B5EF4-FFF2-40B4-BE49-F238E27FC236}">
                <a16:creationId xmlns:a16="http://schemas.microsoft.com/office/drawing/2014/main" id="{AAE2FB5E-3CDE-4A6D-9044-F9E9B844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Issue #5 → PR #6 → criterios, pruebas e informe. Revisión humana: Issue #3.</a:t>
            </a:r>
          </a:p>
        </p:txBody>
      </p:sp>
      <p:sp>
        <p:nvSpPr>
          <p:cNvPr id="6" name="Texto Tablero Kanban y una meta">
            <a:extLst xmlns:a="http://schemas.openxmlformats.org/drawingml/2006/main">
              <a:ext uri="{FF2B5EF4-FFF2-40B4-BE49-F238E27FC236}">
                <a16:creationId xmlns:a16="http://schemas.microsoft.com/office/drawing/2014/main" id="{3175381D-FF8D-4097-BB96-AEE1C6E2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Tablero Kanban y una meta de entrega</a:t>
            </a:r>
          </a:p>
        </p:txBody>
      </p:sp>
      <p:sp>
        <p:nvSpPr>
          <p:cNvPr id="7" name="Texto Pendiente, En progreso, E">
            <a:extLst xmlns:a="http://schemas.openxmlformats.org/drawingml/2006/main">
              <a:ext uri="{FF2B5EF4-FFF2-40B4-BE49-F238E27FC236}">
                <a16:creationId xmlns:a16="http://schemas.microsoft.com/office/drawing/2014/main" id="{CAF9F567-DD37-4838-BAD8-D0E56D0C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Pendiente, En progreso, En revisión y Finalizado.</a:t>
            </a:r>
          </a:p>
        </p:txBody>
      </p:sp>
      <p:sp>
        <p:nvSpPr>
          <p:cNvPr id="8" name="Texto Semana 1: requisitos y pr">
            <a:extLst xmlns:a="http://schemas.openxmlformats.org/drawingml/2006/main">
              <a:ext uri="{FF2B5EF4-FFF2-40B4-BE49-F238E27FC236}">
                <a16:creationId xmlns:a16="http://schemas.microsoft.com/office/drawing/2014/main" id="{F30D6D9E-0D3A-47F5-B1CF-DAEE31C2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62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Semana 1: requisitos y prototipo.</a:t>
            </a:r>
          </a:p>
          <a:p xmlns:a="http://schemas.openxmlformats.org/drawingml/2006/main">
            <a: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Semana 2: pruebas, revisión cruzada y exposición.</a:t>
            </a:r>
          </a:p>
        </p:txBody>
      </p:sp>
    </p:spTree>
    <p:extLst>
      <p:ext uri="{BB962C8B-B14F-4D97-AF65-F5344CB8AC3E}">
        <p14:creationId xmlns:p14="http://schemas.microsoft.com/office/powerpoint/2010/main" val="17644778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Conclusiones y reflexión">
            <a:extLst xmlns:a="http://schemas.openxmlformats.org/drawingml/2006/main">
              <a:ext uri="{FF2B5EF4-FFF2-40B4-BE49-F238E27FC236}">
                <a16:creationId xmlns:a16="http://schemas.microsoft.com/office/drawing/2014/main" id="{A1B3E8CD-AB87-4967-8BF1-78A4C810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Conclusiones y reflexión</a:t>
            </a:r>
          </a:p>
        </p:txBody>
      </p:sp>
      <p:sp>
        <p:nvSpPr>
          <p:cNvPr id="2" name="Texto PROYECTO PARCIAL I">
            <a:extLst xmlns:a="http://schemas.openxmlformats.org/drawingml/2006/main">
              <a:ext uri="{FF2B5EF4-FFF2-40B4-BE49-F238E27FC236}">
                <a16:creationId xmlns:a16="http://schemas.microsoft.com/office/drawing/2014/main" id="{D155172F-7BE4-4751-8566-02AC56C4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PROYECTO PARCIAL I</a:t>
            </a:r>
          </a:p>
        </p:txBody>
      </p:sp>
      <p:sp>
        <p:nvSpPr>
          <p:cNvPr id="3" name="Texto 12">
            <a:extLst xmlns:a="http://schemas.openxmlformats.org/drawingml/2006/main">
              <a:ext uri="{FF2B5EF4-FFF2-40B4-BE49-F238E27FC236}">
                <a16:creationId xmlns:a16="http://schemas.microsoft.com/office/drawing/2014/main" id="{9BA6CE54-665F-43A2-9604-B94B9F14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o Git conserva cambios recu">
            <a:extLst xmlns:a="http://schemas.openxmlformats.org/drawingml/2006/main">
              <a:ext uri="{FF2B5EF4-FFF2-40B4-BE49-F238E27FC236}">
                <a16:creationId xmlns:a16="http://schemas.microsoft.com/office/drawing/2014/main" id="{4F82937C-2B33-46A8-BAE7-05D043CD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Git conserva cambios recuperables.</a:t>
            </a:r>
          </a:p>
        </p:txBody>
      </p:sp>
      <p:sp>
        <p:nvSpPr>
          <p:cNvPr id="5" name="Texto DevOps ofrece comprobacio">
            <a:extLst xmlns:a="http://schemas.openxmlformats.org/drawingml/2006/main">
              <a:ext uri="{FF2B5EF4-FFF2-40B4-BE49-F238E27FC236}">
                <a16:creationId xmlns:a16="http://schemas.microsoft.com/office/drawing/2014/main" id="{2F096B09-521D-4305-8015-3E977FDF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DevOps ofrece comprobaciones antes de entregar.</a:t>
            </a:r>
          </a:p>
        </p:txBody>
      </p:sp>
      <p:sp>
        <p:nvSpPr>
          <p:cNvPr id="6" name="Texto La IA exige mejores instr">
            <a:extLst xmlns:a="http://schemas.openxmlformats.org/drawingml/2006/main">
              <a:ext uri="{FF2B5EF4-FFF2-40B4-BE49-F238E27FC236}">
                <a16:creationId xmlns:a16="http://schemas.microsoft.com/office/drawing/2014/main" id="{1633FE28-8AE4-4CD8-BD1A-DF095A33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La IA exige mejores instrucciones y revisión.</a:t>
            </a:r>
          </a:p>
        </p:txBody>
      </p:sp>
      <p:sp>
        <p:nvSpPr>
          <p:cNvPr id="7" name="Texto GitHub reúne el trabajo y">
            <a:extLst xmlns:a="http://schemas.openxmlformats.org/drawingml/2006/main">
              <a:ext uri="{FF2B5EF4-FFF2-40B4-BE49-F238E27FC236}">
                <a16:creationId xmlns:a16="http://schemas.microsoft.com/office/drawing/2014/main" id="{4B85C653-0469-4408-9EA9-9D20B990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GitHub reúne el trabajo y sus evidencias.</a:t>
            </a:r>
          </a:p>
        </p:txBody>
      </p:sp>
      <p:sp>
        <p:nvSpPr>
          <p:cNvPr id="8" name="Texto Pendiente del grupo: comp">
            <a:extLst xmlns:a="http://schemas.openxmlformats.org/drawingml/2006/main">
              <a:ext uri="{FF2B5EF4-FFF2-40B4-BE49-F238E27FC236}">
                <a16:creationId xmlns:a16="http://schemas.microsoft.com/office/drawing/2014/main" id="{90B33A81-627F-4C21-8659-0AB5490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Pendiente del grupo: completar datos, revisar el PR y ensayar la demostración.</a:t>
            </a:r>
          </a:p>
        </p:txBody>
      </p:sp>
    </p:spTree>
    <p:extLst>
      <p:ext uri="{BB962C8B-B14F-4D97-AF65-F5344CB8AC3E}">
        <p14:creationId xmlns:p14="http://schemas.microsoft.com/office/powerpoint/2010/main" val="1063187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2026-10-25T04:31:10.4230000Z</dcterms:created>
  <dcterms:modified xsi:type="dcterms:W3CDTF">2026-10-25T04:31:10.4230000Z</dcterms:modified>
</coreProperties>
</file>